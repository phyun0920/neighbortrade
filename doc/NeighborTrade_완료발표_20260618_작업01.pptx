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  <p:sldId id="275" r:id="rId26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
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5727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58952" y="23225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직거래 커뮤니티 플랫폼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발표 자료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307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· Spring Boot 3.4 · Thymeleaf · PostgreSQL/Supabase · Railway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0" y="6217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발표 흐름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0" y="14447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목적과 대상 사용자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219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221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22494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사용자·관리자 관점 주요 시나리오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724912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266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0266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30540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아키텍처, 데이터, 배포 구조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529584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313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831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38587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검색/인기검색어, 끌올, 채팅, 관리자 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334256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360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636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결과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46634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진행 현황, 테스트, 회고 및 개선 방향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5138928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기반 중고거래와 커뮤니티 경험을 하나로 연결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동네를 기준으로 상품 탐색, 판매, 거래, 커뮤니티 활동을 제공하는 위치 기반 플랫폼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1732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형태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039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 / 2026.05 ~ 진행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1~3 구현 완료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039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회원, 판매글, 신고, 인기검색어, 검색 로그를 통합 UI에서 관리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749808" y="3794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288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" y="427939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기반 탐색으로 가까운 이웃과 빠르게 거래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764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" y="475488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요청, 채팅, 후기, 신고 흐름으로 안전성 보강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239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" y="523036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기록과 인기검색어로 사용자 관심 트렌드 파악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목표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중고거래에서 필요한 신뢰, 탐색, 운영 기능을 구현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3520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상품 게시판만으로는 거래 신뢰, 지역성, 운영 관리가 부족합니다.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위치 기반 탐색, 거래 상태 관리, 신고 처리, 관리자 관제가 필요합니다.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325880"/>
            <a:ext cx="73152" cy="35204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947672"/>
            <a:ext cx="3154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선택·인증, 상품 CRUD, 거래 요청, 채팅, 후기, 신고까지 이어지는 완성형 사용 흐름을 제공합니다.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2971800" cy="352044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325880"/>
            <a:ext cx="73152" cy="3520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1947672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기능과 관리자 기능을 실제 화면과 데이터 흐름으로 동작시키고 Railway 배포 구조까지 구성합니다.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대상과 사용자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탐색부터 거래 완료와 후기까지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가입/로그인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이메일, 카카오, 네이버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62272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동네 선택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지역, 동네 인증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284464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41732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상품 탐색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13064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카테고리, 검색, 인기검색어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9184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상품 판매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업로드, 상태 관리, 끌올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62272" y="329184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3291840"/>
            <a:ext cx="73152" cy="13258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거래/채팅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0872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요청, 수락, 완료, 1:1 채팅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284464" y="329184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84464" y="329184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13064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후기/신고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13064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매너 후기, 부적절 콘텐츠 신고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기능과 관리자 기능을 분리해 완성도 있게 구현했습니다.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- 사용자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상품, 거래, 커뮤니티 기능을 하나의 흐름으로 연결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71600"/>
            <a:ext cx="73152" cy="141732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002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 상품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9933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목록/상세/등록/수정, 이미지 업로드, 상태 변경, 내 판매글 관리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07408" y="13716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3716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6002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탐색과 검색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6008" y="19933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필터, 카테고리 필터, 키워드 검색, 최근 관심 트렌드 제공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56448" y="13716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13716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002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19933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상품 저장과 목록 조회로 구매 후보 관리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58368" y="34290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4290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6576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흐름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40507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요청, 수락, 완료, 취소 등 상태 기반 거래 관리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07408" y="34290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07408" y="3429000"/>
            <a:ext cx="73152" cy="1417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576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채팅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6008" y="40507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WebSocket(STOMP) + SockJS 기반 실시간 대화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56448" y="342900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34290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65760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커뮤니티/신고/후기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85048" y="405079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동네생활 게시글·댓글, 신고 접수, 거래 완료 후 후기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- 관리자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서비스 상태를 한 화면에서 확인하고 조치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회원, 판매글, 거래, 동네생활, 신고, 인기검색어 요약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회원/판매글 관리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역할·인증 동네·매너점수 조회, 부적절 판매글 숨김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0391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목록 확인, 상태 변경, 처리 메모 관리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42900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인기검색어 관리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0507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집계 결과 조회, 키워드 수정·삭제, 즉시 집계 실행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34840" y="34290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4290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0507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search_v2_log 읽기 전용 조회, 최근 7일 검색량 표시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83880" y="34290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3429000"/>
            <a:ext cx="73152" cy="13258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0507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admin-layout 기반 사이드바와 모바일 토글 메뉴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MVC, Thymeleaf, JPA, WebSocket, Railway 기반으로 구성했습니다.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사용한 기술 기준으로 정리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065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48840" y="182880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906524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77640" y="182880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1906524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806440" y="1828800"/>
            <a:ext cx="96012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304" y="1906524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190652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90652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1546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23240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76272" y="315468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31136" y="323240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64992" y="315468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23240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62272" y="31546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323240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79592" y="3154680"/>
            <a:ext cx="192024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34456" y="3232404"/>
            <a:ext cx="18105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common.css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724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/ Infra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48056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455828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31720" y="4480560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86584" y="4558284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0" y="4480560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4558284"/>
            <a:ext cx="941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test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92040" y="448056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455828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80760" y="4480560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4558284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77240" y="5486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Tailwind CSS와 Docker는 실제 프로젝트 기술 스택 배지에서 제외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MVC 레이어와 도메인별 서비스 분리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73152" cy="132588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화면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HTML/CSS/JS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71576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5448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/ Admin / Chat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 / Trade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13892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155448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검색·거래·채팅·신고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56208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55448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21762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도메인별 Repository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9985248" y="1993392"/>
            <a:ext cx="329184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554480"/>
            <a:ext cx="1508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0" y="1554480"/>
            <a:ext cx="73152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870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87000" y="21762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/ Supabase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test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3200400" y="3931920"/>
            <a:ext cx="5669280" cy="82296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178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WebSocket(STOMP) /ws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4187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메시지는 REST 흐름과 분리된 실시간 채널로 처리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검색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로그를 저장하고 인기검색어로 운영 지표화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검색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market/list에서 키워드 검색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258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로그 저장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search_v2_log에 키워드, 시간, 동네, 결과 수 저장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258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주간 집계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인기검색어 즉시 집계 실행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82396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23960" y="13258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화면 표시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19476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popular_search_keyword 또는 YAML 폴백 칩 표시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14400" y="3895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886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로그는 서비스 사용자의 관심사를 분석할 수 있는 운영 데이터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37997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인기검색어는 DB 데이터가 없을 때 YAML 폴백 목록으로 화면 안정성 확보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882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70432" y="48737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스케줄(@Scheduled)은 향후 개선 항목으로 분리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결과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1~3 기능 구현과 Railway 배포 구조까지 정리했습니다.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진행 현황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3까지 구현 완료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13055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회원가입/로그인, 기본 화면, 초기 도메인 구성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1051560" y="38862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396392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26280" y="150876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508760"/>
            <a:ext cx="73152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13055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기능 확장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CRUD, 이미지 업로드, 위치/카테고리 필터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54880" y="38862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96392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29600" y="150876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508760"/>
            <a:ext cx="73152" cy="214884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213055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완성도 개선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끌올, 검색 로그, 인기검색어, 커뮤니티, 관리자 UI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458200" y="3886200"/>
            <a:ext cx="822960" cy="310896"/>
          </a:xfrm>
          <a:prstGeom prst="roundRect">
            <a:avLst>
              <a:gd name="adj" fmla="val 20588"/>
            </a:avLst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396392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68680" y="4709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상세 완료 항목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148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216152" y="5138928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1~6: PC 헤더 통일, 동네생활 공개 열람, 끌올, 인기검색어, 모바일 UX, COM/ADM v2 UI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960120" y="5513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216152" y="5504688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UI 통합: 대시보드, 사이드바, 검색 로그, 인기검색어 관리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완성도를 높인 주요 설계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끌올(Bump)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쿨타임을 적용해 판매글 노출 시간을 갱신하고 공정한 노출 관리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70832" y="1325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3258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로그/인기검색어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기록 저장 → 주간 TOP N 집계 → 화면 칩 표시와 관리자 관리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65008" y="1325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132588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관리자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1947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대시보드와 사이드바 기반으로 운영 메뉴 접근성을 개선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채팅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거래 과정에서 실시간 1:1 대화 흐름 제공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370832" y="34290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34290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보안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마스킹, 운영 로그 레벨 조정, 민감 설정 분리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065008" y="342900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65008" y="3429000"/>
            <a:ext cx="73152" cy="1417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657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3608" y="4050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없이 common.css 기반으로 PC/모바일 화면 대응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배포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테스트와 Railway 운영 프로필 구성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39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Gradle test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MarketControllerTest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CommunityControllerTest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테스트 프로필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 bootJar 배포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환경변수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application-prod.yml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설정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03911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PostgreSQL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환경 변수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레벨/ANSI 비활성화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8686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 실행 구조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10424160" cy="6858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09160"/>
            <a:ext cx="10012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 sh gradlew bootJar -x test --no-daemon   →   run: java -Dserver.port=$PORT -jar build/libs/NeighborTrade-0.0.1-SNAPSHOT.jar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회고와 향후 개선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후 확장 가능한 개선 항목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중고거래를 단순 CRUD에서 거래·채팅·후기·신고·관리자 운영까지 확장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흐름 중심으로 화면과 도메인을 연결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33172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어려웠던 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인증/권한, 동네 필터, 거래 상태, 관리자 UI가 서로 영향을 주어 경계 정리가 필요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환경 로그와 설정 분리도 중요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D1D5D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03911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인기검색어 자동 스케줄러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거래/동네생활 전용 관리자 목록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커버리지 확대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설정 정리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914400" y="4672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46634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핵심 흐름은 완료되었고, 운영 자동화와 관리자 세분화가 다음 단계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129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51206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관점에서는 기능, 기술, 운영 경험을 모두 설명할 수 있는 프로젝트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완료 발표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307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NeighborTrade - 동네 직거래 커뮤니티 플랫폼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84048"/>
            <a:ext cx="96926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100" dirty="0">
                <a:b/>
                <a:solidFill>
                  <a:srgbClr val="1F2937"/>
                </a:solidFill>
                <a:latin typeface="Malgun Gothic"/>
                <a:ea typeface="Malgun Gothic"/>
              </a:rPr>
              <a:t>GPS 동네 인증: Leaflet은 보여주고, 서버가 판정한다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2648" y="804672"/>
            <a:ext cx="93268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900" dirty="0">
                <a:solidFill>
                  <a:srgbClr val="6B7280"/>
                </a:solidFill>
                <a:latin typeface="Malgun Gothic"/>
                <a:ea typeface="Malgun Gothic"/>
              </a:rPr>
              <a:t>Frontend 지도 UI + Backend 검증 로직 + DB 공간 쿼리를 한 흐름으로 연결</a:t>
            </a:r>
          </a:p>
        </p:txBody>
      </p:sp>
      <p:sp>
        <p:nvSpPr>
          <p:cNvPr id="5" name="Box 5"/>
          <p:cNvSpPr/>
          <p:nvPr/>
        </p:nvSpPr>
        <p:spPr>
          <a:xfrm>
            <a:off x="685800" y="1353312"/>
            <a:ext cx="315468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140000" tIns="120000" rIns="140000" bIns="100000" wrap="square">
            <a:spAutoFit/>
          </a:bodyPr>
          <a:lstStyle/>
          <a:p>
            <a:pPr algn="l"/>
            <a:r>
              <a:rPr lang="ko-KR" sz="1400" dirty="0">
                <a:b/>
                <a:solidFill>
                  <a:srgbClr val="2563EB"/>
                </a:solidFill>
                <a:latin typeface="Malgun Gothic"/>
                <a:ea typeface="Malgun Gothic"/>
              </a:rPr>
              <a:t>Frontend · Leaflet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/location/select 지도 UI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HTML5 Geolocation 좌표 수집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마커·반경 원으로 위치를 시각화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통과/실패는 판정하지 않음</a:t>
            </a:r>
          </a:p>
        </p:txBody>
      </p:sp>
      <p:sp>
        <p:nvSpPr>
          <p:cNvPr id="6" name="Arrow 6"/>
          <p:cNvSpPr/>
          <p:nvPr/>
        </p:nvSpPr>
        <p:spPr>
          <a:xfrm>
            <a:off x="4005072" y="2029968"/>
            <a:ext cx="502920" cy="320040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4526280" y="1353312"/>
            <a:ext cx="315468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lIns="140000" tIns="120000" rIns="140000" bIns="100000" wrap="square">
            <a:spAutoFit/>
          </a:bodyPr>
          <a:lstStyle/>
          <a:p>
            <a:pPr algn="l"/>
            <a:r>
              <a:rPr lang="ko-KR" sz="1400" dirty="0">
                <a:b/>
                <a:solidFill>
                  <a:srgbClr val="16A34A"/>
                </a:solidFill>
                <a:latin typeface="Malgun Gothic"/>
                <a:ea typeface="Malgun Gothic"/>
              </a:rPr>
              <a:t>Backend · Spring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POST /location/verify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LocationService에서 검증 흐름 제어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성공/실패 이력 저장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member.verifyLocal() 처리</a:t>
            </a:r>
          </a:p>
        </p:txBody>
      </p:sp>
      <p:sp>
        <p:nvSpPr>
          <p:cNvPr id="8" name="Arrow 8"/>
          <p:cNvSpPr/>
          <p:nvPr/>
        </p:nvSpPr>
        <p:spPr>
          <a:xfrm>
            <a:off x="7845552" y="2029968"/>
            <a:ext cx="502920" cy="320040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9" name="Box 9"/>
          <p:cNvSpPr/>
          <p:nvPr/>
        </p:nvSpPr>
        <p:spPr>
          <a:xfrm>
            <a:off x="8366760" y="1353312"/>
            <a:ext cx="3154680" cy="1828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CA5A5"/>
            </a:solidFill>
          </a:ln>
        </p:spPr>
        <p:txBody>
          <a:bodyPr lIns="140000" tIns="120000" rIns="140000" bIns="100000" wrap="square">
            <a:spAutoFit/>
          </a:bodyPr>
          <a:lstStyle/>
          <a:p>
            <a:pPr algn="l"/>
            <a:r>
              <a:rPr lang="ko-KR" sz="1400" dirty="0">
                <a:b/>
                <a:solidFill>
                  <a:srgbClr val="C0392B"/>
                </a:solidFill>
                <a:latin typeface="Malgun Gothic"/>
                <a:ea typeface="Malgun Gothic"/>
              </a:rPr>
              <a:t>Database · PostGIS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ST_Contains(boundary, point)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MultiPolygon · SRID 4326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PostGIS off 또는 H2는 Haversine fallback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location_verification 로그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240" y="359359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300" dirty="0">
                <a:b/>
                <a:solidFill>
                  <a:srgbClr val="1F2937"/>
                </a:solidFill>
                <a:latin typeface="Malgun Gothic"/>
                <a:ea typeface="Malgun Gothic"/>
              </a:rPr>
              <a:t>5단계 인증 흐름</a:t>
            </a:r>
          </a:p>
        </p:txBody>
      </p:sp>
      <p:sp>
        <p:nvSpPr>
          <p:cNvPr id="11" name="Step 11"/>
          <p:cNvSpPr/>
          <p:nvPr/>
        </p:nvSpPr>
        <p:spPr>
          <a:xfrm>
            <a:off x="777240" y="4069080"/>
            <a:ext cx="18745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80000" tIns="65000" rIns="80000" bIns="60000" wrap="square">
            <a:spAutoFit/>
          </a:bodyPr>
          <a:lstStyle/>
          <a:p>
            <a:pPr algn="ctr"/>
            <a:r>
              <a:rPr lang="ko-KR" sz="1000" dirty="0">
                <a:b/>
                <a:solidFill>
                  <a:srgbClr val="111827"/>
                </a:solidFill>
                <a:latin typeface="Malgun Gothic"/>
                <a:ea typeface="Malgun Gothic"/>
              </a:rPr>
              <a:t>1. 동네 선택</a:t>
            </a:r>
          </a:p>
          <a:p>
            <a:pPr algn="ctr"/>
            <a:r>
              <a:rPr lang="ko-KR" sz="800" dirty="0">
                <a:solidFill>
                  <a:srgbClr val="4B5563"/>
                </a:solidFill>
                <a:latin typeface="Malgun Gothic"/>
                <a:ea typeface="Malgun Gothic"/>
              </a:rPr>
              <a:t>중심·반경 표시</a:t>
            </a:r>
          </a:p>
        </p:txBody>
      </p:sp>
      <p:sp>
        <p:nvSpPr>
          <p:cNvPr id="12" name="Arrow 12"/>
          <p:cNvSpPr/>
          <p:nvPr/>
        </p:nvSpPr>
        <p:spPr>
          <a:xfrm>
            <a:off x="2706624" y="4315968"/>
            <a:ext cx="502920" cy="320040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3" name="Step 13"/>
          <p:cNvSpPr/>
          <p:nvPr/>
        </p:nvSpPr>
        <p:spPr>
          <a:xfrm>
            <a:off x="3182112" y="4069080"/>
            <a:ext cx="18745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80000" tIns="65000" rIns="80000" bIns="60000" wrap="square">
            <a:spAutoFit/>
          </a:bodyPr>
          <a:lstStyle/>
          <a:p>
            <a:pPr algn="ctr"/>
            <a:r>
              <a:rPr lang="ko-KR" sz="1000" dirty="0">
                <a:b/>
                <a:solidFill>
                  <a:srgbClr val="111827"/>
                </a:solidFill>
                <a:latin typeface="Malgun Gothic"/>
                <a:ea typeface="Malgun Gothic"/>
              </a:rPr>
              <a:t>2. GPS 수집</a:t>
            </a:r>
          </a:p>
          <a:p>
            <a:pPr algn="ctr"/>
            <a:r>
              <a:rPr lang="ko-KR" sz="800" dirty="0">
                <a:solidFill>
                  <a:srgbClr val="4B5563"/>
                </a:solidFill>
                <a:latin typeface="Malgun Gothic"/>
                <a:ea typeface="Malgun Gothic"/>
              </a:rPr>
              <a:t>현재 좌표 표시</a:t>
            </a:r>
          </a:p>
        </p:txBody>
      </p:sp>
      <p:sp>
        <p:nvSpPr>
          <p:cNvPr id="14" name="Arrow 14"/>
          <p:cNvSpPr/>
          <p:nvPr/>
        </p:nvSpPr>
        <p:spPr>
          <a:xfrm>
            <a:off x="5111496" y="4315968"/>
            <a:ext cx="502920" cy="320040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5" name="Step 15"/>
          <p:cNvSpPr/>
          <p:nvPr/>
        </p:nvSpPr>
        <p:spPr>
          <a:xfrm>
            <a:off x="5586984" y="4069080"/>
            <a:ext cx="187452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80000" tIns="65000" rIns="80000" bIns="60000" wrap="square">
            <a:spAutoFit/>
          </a:bodyPr>
          <a:lstStyle/>
          <a:p>
            <a:pPr algn="ctr"/>
            <a:r>
              <a:rPr lang="ko-KR" sz="1000" dirty="0">
                <a:b/>
                <a:solidFill>
                  <a:srgbClr val="111827"/>
                </a:solidFill>
                <a:latin typeface="Malgun Gothic"/>
                <a:ea typeface="Malgun Gothic"/>
              </a:rPr>
              <a:t>3. 인증 요청</a:t>
            </a:r>
          </a:p>
          <a:p>
            <a:pPr algn="ctr"/>
            <a:r>
              <a:rPr lang="ko-KR" sz="800" dirty="0">
                <a:solidFill>
                  <a:srgbClr val="4B5563"/>
                </a:solidFill>
                <a:latin typeface="Malgun Gothic"/>
                <a:ea typeface="Malgun Gothic"/>
              </a:rPr>
              <a:t>lat/lon 전송</a:t>
            </a:r>
          </a:p>
        </p:txBody>
      </p:sp>
      <p:sp>
        <p:nvSpPr>
          <p:cNvPr id="16" name="Arrow 16"/>
          <p:cNvSpPr/>
          <p:nvPr/>
        </p:nvSpPr>
        <p:spPr>
          <a:xfrm>
            <a:off x="7516368" y="4315968"/>
            <a:ext cx="502920" cy="320040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7" name="Step 17"/>
          <p:cNvSpPr/>
          <p:nvPr/>
        </p:nvSpPr>
        <p:spPr>
          <a:xfrm>
            <a:off x="7991856" y="4069080"/>
            <a:ext cx="187452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lIns="80000" tIns="65000" rIns="80000" bIns="60000" wrap="square">
            <a:spAutoFit/>
          </a:bodyPr>
          <a:lstStyle/>
          <a:p>
            <a:pPr algn="ctr"/>
            <a:r>
              <a:rPr lang="ko-KR" sz="1000" dirty="0">
                <a:b/>
                <a:solidFill>
                  <a:srgbClr val="111827"/>
                </a:solidFill>
                <a:latin typeface="Malgun Gothic"/>
                <a:ea typeface="Malgun Gothic"/>
              </a:rPr>
              <a:t>4. 서버 판정</a:t>
            </a:r>
          </a:p>
          <a:p>
            <a:pPr algn="ctr"/>
            <a:r>
              <a:rPr lang="ko-KR" sz="800" dirty="0">
                <a:solidFill>
                  <a:srgbClr val="4B5563"/>
                </a:solidFill>
                <a:latin typeface="Malgun Gothic"/>
                <a:ea typeface="Malgun Gothic"/>
              </a:rPr>
              <a:t>PostGIS/Haversine</a:t>
            </a:r>
          </a:p>
        </p:txBody>
      </p:sp>
      <p:sp>
        <p:nvSpPr>
          <p:cNvPr id="18" name="Arrow 18"/>
          <p:cNvSpPr/>
          <p:nvPr/>
        </p:nvSpPr>
        <p:spPr>
          <a:xfrm>
            <a:off x="9921240" y="4315968"/>
            <a:ext cx="502920" cy="320040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9" name="Step 19"/>
          <p:cNvSpPr/>
          <p:nvPr/>
        </p:nvSpPr>
        <p:spPr>
          <a:xfrm>
            <a:off x="10396728" y="4069080"/>
            <a:ext cx="1874520" cy="8229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CA5A5"/>
            </a:solidFill>
          </a:ln>
        </p:spPr>
        <p:txBody>
          <a:bodyPr lIns="80000" tIns="65000" rIns="80000" bIns="60000" wrap="square">
            <a:spAutoFit/>
          </a:bodyPr>
          <a:lstStyle/>
          <a:p>
            <a:pPr algn="ctr"/>
            <a:r>
              <a:rPr lang="ko-KR" sz="1000" dirty="0">
                <a:b/>
                <a:solidFill>
                  <a:srgbClr val="111827"/>
                </a:solidFill>
                <a:latin typeface="Malgun Gothic"/>
                <a:ea typeface="Malgun Gothic"/>
              </a:rPr>
              <a:t>5. 권한 unlock</a:t>
            </a:r>
          </a:p>
          <a:p>
            <a:pPr algn="ctr"/>
            <a:r>
              <a:rPr lang="ko-KR" sz="800" dirty="0">
                <a:solidFill>
                  <a:srgbClr val="4B5563"/>
                </a:solidFill>
                <a:latin typeface="Malgun Gothic"/>
                <a:ea typeface="Malgun Gothic"/>
              </a:rPr>
              <a:t>판매·거래·댓글</a:t>
            </a:r>
          </a:p>
        </p:txBody>
      </p:sp>
      <p:sp>
        <p:nvSpPr>
          <p:cNvPr id="20" name="Takeaway"/>
          <p:cNvSpPr/>
          <p:nvPr/>
        </p:nvSpPr>
        <p:spPr>
          <a:xfrm>
            <a:off x="777240" y="5321808"/>
            <a:ext cx="10652760" cy="5669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140000" tIns="90000" rIns="140000" bIns="90000" wrap="square">
            <a:spAutoFit/>
          </a:bodyPr>
          <a:lstStyle/>
          <a:p>
            <a:pPr algn="ctr"/>
            <a:r>
              <a:rPr lang="ko-KR" sz="1200" dirty="0">
                <a:b/>
                <a:solidFill>
                  <a:srgbClr val="9A3412"/>
                </a:solidFill>
                <a:latin typeface="Malgun Gothic"/>
                <a:ea typeface="Malgun Gothic"/>
              </a:rPr>
              <a:t>핵심 메시지: 지도의 주황 원은 참고용 UX이고, 실제 인증 성공/실패는 항상 서버·DB 기준으로 결정됩니다.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800" dirty="0">
                <a:solidFill>
                  <a:srgbClr val="9CA3AF"/>
                </a:solidFill>
                <a:latin typeface="Malgun Gothic"/>
                <a:ea typeface="Malgun Gothic"/>
              </a:rPr>
              <a:t>NeighborTrade 완료 발표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64240" y="641908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900" dirty="0">
                <a:b/>
                <a:solidFill>
                  <a:srgbClr val="9CA3AF"/>
                </a:solidFill>
                <a:latin typeface="Malgun Gothic"/>
                <a:ea typeface="Malgun Gothic"/>
              </a:rPr>
              <a:t>GPS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F0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84048"/>
            <a:ext cx="89611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 dirty="0">
                <a:b/>
                <a:solidFill>
                  <a:srgbClr val="1F2937"/>
                </a:solidFill>
                <a:latin typeface="Malgun Gothic"/>
                <a:ea typeface="Malgun Gothic"/>
              </a:rPr>
              <a:t>동네인증 프로세스 (NBT-P5)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2648" y="80467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900" dirty="0">
                <a:solidFill>
                  <a:srgbClr val="6B7280"/>
                </a:solidFill>
                <a:latin typeface="Malgun Gothic"/>
                <a:ea typeface="Malgun Gothic"/>
              </a:rPr>
              <a:t>사용자 GPS 좌표와 선택 동네를 서버에서 검증하여 localVerified를 갱신하는 흐름</a:t>
            </a:r>
          </a:p>
        </p:txBody>
      </p:sp>
      <p:sp>
        <p:nvSpPr>
          <p:cNvPr id="5" name="Lane 5"/>
          <p:cNvSpPr/>
          <p:nvPr/>
        </p:nvSpPr>
        <p:spPr>
          <a:xfrm>
            <a:off x="685800" y="1234440"/>
            <a:ext cx="242316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120000" tIns="90000" rIns="100000" bIns="80000" wrap="square">
            <a:spAutoFit/>
          </a:bodyPr>
          <a:lstStyle/>
          <a:p>
            <a:pPr algn="l"/>
            <a:r>
              <a:rPr lang="ko-KR" sz="1100" dirty="0">
                <a:b/>
                <a:solidFill>
                  <a:srgbClr val="2563EB"/>
                </a:solidFill>
                <a:latin typeface="Malgun Gothic"/>
                <a:ea typeface="Malgun Gothic"/>
              </a:rPr>
              <a:t>입력 조건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로그인 사용자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neighborhoodId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latitude / longitude</a:t>
            </a:r>
          </a:p>
        </p:txBody>
      </p:sp>
      <p:sp>
        <p:nvSpPr>
          <p:cNvPr id="6" name="Lane 6"/>
          <p:cNvSpPr/>
          <p:nvPr/>
        </p:nvSpPr>
        <p:spPr>
          <a:xfrm>
            <a:off x="3337560" y="1234440"/>
            <a:ext cx="2697480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lIns="120000" tIns="90000" rIns="100000" bIns="80000" wrap="square">
            <a:spAutoFit/>
          </a:bodyPr>
          <a:lstStyle/>
          <a:p>
            <a:pPr algn="l"/>
            <a:r>
              <a:rPr lang="ko-KR" sz="1100" dirty="0">
                <a:b/>
                <a:solidFill>
                  <a:srgbClr val="16A34A"/>
                </a:solidFill>
                <a:latin typeface="Malgun Gothic"/>
                <a:ea typeface="Malgun Gothic"/>
              </a:rPr>
              <a:t>Controller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GET /location/select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POST /location/verify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DTO 바인딩 + 현재 회원 조회</a:t>
            </a:r>
          </a:p>
        </p:txBody>
      </p:sp>
      <p:sp>
        <p:nvSpPr>
          <p:cNvPr id="7" name="Lane 7"/>
          <p:cNvSpPr/>
          <p:nvPr/>
        </p:nvSpPr>
        <p:spPr>
          <a:xfrm>
            <a:off x="6263640" y="1234440"/>
            <a:ext cx="2697480" cy="1051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120000" tIns="90000" rIns="100000" bIns="80000" wrap="square">
            <a:spAutoFit/>
          </a:bodyPr>
          <a:lstStyle/>
          <a:p>
            <a:pPr algn="l"/>
            <a:r>
              <a:rPr lang="ko-KR" sz="1100" dirty="0">
                <a:b/>
                <a:solidFill>
                  <a:srgbClr val="EA580C"/>
                </a:solidFill>
                <a:latin typeface="Malgun Gothic"/>
                <a:ea typeface="Malgun Gothic"/>
              </a:rPr>
              <a:t>Service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유효성 검사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동네 조회 + 거리 계산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PostGIS 또는 반경 판정</a:t>
            </a:r>
          </a:p>
        </p:txBody>
      </p:sp>
      <p:sp>
        <p:nvSpPr>
          <p:cNvPr id="8" name="Lane 8"/>
          <p:cNvSpPr/>
          <p:nvPr/>
        </p:nvSpPr>
        <p:spPr>
          <a:xfrm>
            <a:off x="9189720" y="1234440"/>
            <a:ext cx="2331720" cy="1051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CA5A5"/>
            </a:solidFill>
          </a:ln>
        </p:spPr>
        <p:txBody>
          <a:bodyPr lIns="120000" tIns="90000" rIns="100000" bIns="80000" wrap="square">
            <a:spAutoFit/>
          </a:bodyPr>
          <a:lstStyle/>
          <a:p>
            <a:pPr algn="l"/>
            <a:r>
              <a:rPr lang="ko-KR" sz="1100" dirty="0">
                <a:b/>
                <a:solidFill>
                  <a:srgbClr val="C0392B"/>
                </a:solidFill>
                <a:latin typeface="Malgun Gothic"/>
                <a:ea typeface="Malgun Gothic"/>
              </a:rPr>
              <a:t>결과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이력 저장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localVerified=true</a:t>
            </a:r>
          </a:p>
          <a:p>
            <a:pPr algn="l"/>
            <a:r>
              <a:rPr lang="ko-KR" sz="800" dirty="0">
                <a:solidFill>
                  <a:srgbClr val="374151"/>
                </a:solidFill>
                <a:latin typeface="Malgun Gothic"/>
                <a:ea typeface="Malgun Gothic"/>
              </a:rPr>
              <a:t>역할 승격 + 쿠키 설정</a:t>
            </a:r>
          </a:p>
        </p:txBody>
      </p:sp>
      <p:sp>
        <p:nvSpPr>
          <p:cNvPr id="9" name="Arrow 9"/>
          <p:cNvSpPr/>
          <p:nvPr/>
        </p:nvSpPr>
        <p:spPr>
          <a:xfrm>
            <a:off x="3127248" y="1664208"/>
            <a:ext cx="201168" cy="146304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0" name="Arrow 10"/>
          <p:cNvSpPr/>
          <p:nvPr/>
        </p:nvSpPr>
        <p:spPr>
          <a:xfrm>
            <a:off x="6053328" y="1664208"/>
            <a:ext cx="201168" cy="146304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1" name="Arrow 11"/>
          <p:cNvSpPr/>
          <p:nvPr/>
        </p:nvSpPr>
        <p:spPr>
          <a:xfrm>
            <a:off x="8979408" y="1664208"/>
            <a:ext cx="201168" cy="146304"/>
          </a:xfrm>
          <a:prstGeom prst="rightArrow">
            <a:avLst/>
          </a:prstGeom>
          <a:solidFill>
            <a:srgbClr val="FF6F0F"/>
          </a:solidFill>
          <a:ln>
            <a:solidFill>
              <a:srgbClr val="FF6F0F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77240" y="274320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300" dirty="0">
                <a:b/>
                <a:solidFill>
                  <a:srgbClr val="1F2937"/>
                </a:solidFill>
                <a:latin typeface="Malgun Gothic"/>
                <a:ea typeface="Malgun Gothic"/>
              </a:rPr>
              <a:t>9단계 처리 흐름</a:t>
            </a:r>
          </a:p>
        </p:txBody>
      </p:sp>
      <p:sp>
        <p:nvSpPr>
          <p:cNvPr id="13" name="Process 13"/>
          <p:cNvSpPr/>
          <p:nvPr/>
        </p:nvSpPr>
        <p:spPr>
          <a:xfrm>
            <a:off x="777240" y="3182112"/>
            <a:ext cx="1170432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2563EB"/>
                </a:solidFill>
                <a:latin typeface="Malgun Gothic"/>
                <a:ea typeface="Malgun Gothic"/>
              </a:rPr>
              <a:t>01. 화면 진입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GET select</a:t>
            </a:r>
          </a:p>
        </p:txBody>
      </p:sp>
      <p:sp>
        <p:nvSpPr>
          <p:cNvPr id="14" name="Process 14"/>
          <p:cNvSpPr/>
          <p:nvPr/>
        </p:nvSpPr>
        <p:spPr>
          <a:xfrm>
            <a:off x="1993392" y="3182112"/>
            <a:ext cx="1170432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2563EB"/>
                </a:solidFill>
                <a:latin typeface="Malgun Gothic"/>
                <a:ea typeface="Malgun Gothic"/>
              </a:rPr>
              <a:t>02. GPS 입력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동네·좌표</a:t>
            </a:r>
          </a:p>
        </p:txBody>
      </p:sp>
      <p:sp>
        <p:nvSpPr>
          <p:cNvPr id="15" name="Process 15"/>
          <p:cNvSpPr/>
          <p:nvPr/>
        </p:nvSpPr>
        <p:spPr>
          <a:xfrm>
            <a:off x="3209544" y="3182112"/>
            <a:ext cx="1170432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2563EB"/>
                </a:solidFill>
                <a:latin typeface="Malgun Gothic"/>
                <a:ea typeface="Malgun Gothic"/>
              </a:rPr>
              <a:t>03. 요청 전송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POST verify</a:t>
            </a:r>
          </a:p>
        </p:txBody>
      </p:sp>
      <p:sp>
        <p:nvSpPr>
          <p:cNvPr id="16" name="Process 16"/>
          <p:cNvSpPr/>
          <p:nvPr/>
        </p:nvSpPr>
        <p:spPr>
          <a:xfrm>
            <a:off x="4425696" y="3182112"/>
            <a:ext cx="1170432" cy="7132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16A34A"/>
                </a:solidFill>
                <a:latin typeface="Malgun Gothic"/>
                <a:ea typeface="Malgun Gothic"/>
              </a:rPr>
              <a:t>04. 유효성 검사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@NotNull</a:t>
            </a:r>
          </a:p>
        </p:txBody>
      </p:sp>
      <p:sp>
        <p:nvSpPr>
          <p:cNvPr id="17" name="Process 17"/>
          <p:cNvSpPr/>
          <p:nvPr/>
        </p:nvSpPr>
        <p:spPr>
          <a:xfrm>
            <a:off x="5641848" y="3182112"/>
            <a:ext cx="1170432" cy="71323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16A34A"/>
                </a:solidFill>
                <a:latin typeface="Malgun Gothic"/>
                <a:ea typeface="Malgun Gothic"/>
              </a:rPr>
              <a:t>05. 거리 계산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Haversine</a:t>
            </a:r>
          </a:p>
        </p:txBody>
      </p:sp>
      <p:sp>
        <p:nvSpPr>
          <p:cNvPr id="18" name="Process 18"/>
          <p:cNvSpPr/>
          <p:nvPr/>
        </p:nvSpPr>
        <p:spPr>
          <a:xfrm>
            <a:off x="6858000" y="3182112"/>
            <a:ext cx="1170432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EA580C"/>
                </a:solidFill>
                <a:latin typeface="Malgun Gothic"/>
                <a:ea typeface="Malgun Gothic"/>
              </a:rPr>
              <a:t>06. 범위 판정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PostGIS/반경</a:t>
            </a:r>
          </a:p>
        </p:txBody>
      </p:sp>
      <p:sp>
        <p:nvSpPr>
          <p:cNvPr id="19" name="Process 19"/>
          <p:cNvSpPr/>
          <p:nvPr/>
        </p:nvSpPr>
        <p:spPr>
          <a:xfrm>
            <a:off x="8074152" y="3182112"/>
            <a:ext cx="1170432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EA580C"/>
                </a:solidFill>
                <a:latin typeface="Malgun Gothic"/>
                <a:ea typeface="Malgun Gothic"/>
              </a:rPr>
              <a:t>07. 이력 저장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성공/실패 로그</a:t>
            </a:r>
          </a:p>
        </p:txBody>
      </p:sp>
      <p:sp>
        <p:nvSpPr>
          <p:cNvPr id="20" name="Process 20"/>
          <p:cNvSpPr/>
          <p:nvPr/>
        </p:nvSpPr>
        <p:spPr>
          <a:xfrm>
            <a:off x="9290304" y="3182112"/>
            <a:ext cx="1170432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CA5A5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C0392B"/>
                </a:solidFill>
                <a:latin typeface="Malgun Gothic"/>
                <a:ea typeface="Malgun Gothic"/>
              </a:rPr>
              <a:t>08. 상태 갱신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ROLE 인증회원</a:t>
            </a:r>
          </a:p>
        </p:txBody>
      </p:sp>
      <p:sp>
        <p:nvSpPr>
          <p:cNvPr id="21" name="Process 21"/>
          <p:cNvSpPr/>
          <p:nvPr/>
        </p:nvSpPr>
        <p:spPr>
          <a:xfrm>
            <a:off x="10506456" y="3182112"/>
            <a:ext cx="1170432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CA5A5"/>
            </a:solidFill>
          </a:ln>
        </p:spPr>
        <p:txBody>
          <a:bodyPr lIns="75000" tIns="65000" rIns="75000" bIns="60000" wrap="square">
            <a:spAutoFit/>
          </a:bodyPr>
          <a:lstStyle/>
          <a:p>
            <a:pPr algn="ctr"/>
            <a:r>
              <a:rPr lang="ko-KR" sz="900" dirty="0">
                <a:b/>
                <a:solidFill>
                  <a:srgbClr val="C0392B"/>
                </a:solidFill>
                <a:latin typeface="Malgun Gothic"/>
                <a:ea typeface="Malgun Gothic"/>
              </a:rPr>
              <a:t>09. 결과 표시</a:t>
            </a:r>
          </a:p>
          <a:p>
            <a:pPr algn="ctr"/>
            <a:r>
              <a:rPr lang="ko-KR" sz="700" dirty="0">
                <a:solidFill>
                  <a:srgbClr val="4B5563"/>
                </a:solidFill>
                <a:latin typeface="Malgun Gothic"/>
                <a:ea typeface="Malgun Gothic"/>
              </a:rPr>
              <a:t>result 화면</a:t>
            </a:r>
          </a:p>
        </p:txBody>
      </p:sp>
      <p:sp>
        <p:nvSpPr>
          <p:cNvPr id="22" name="Success Result"/>
          <p:cNvSpPr/>
          <p:nvPr/>
        </p:nvSpPr>
        <p:spPr>
          <a:xfrm>
            <a:off x="777240" y="4315968"/>
            <a:ext cx="507492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lIns="130000" tIns="100000" rIns="120000" bIns="90000" wrap="square">
            <a:spAutoFit/>
          </a:bodyPr>
          <a:lstStyle/>
          <a:p>
            <a:pPr algn="l"/>
            <a:r>
              <a:rPr lang="ko-KR" sz="1200" dirty="0">
                <a:b/>
                <a:solidFill>
                  <a:srgbClr val="166534"/>
                </a:solidFill>
                <a:latin typeface="Malgun Gothic"/>
                <a:ea typeface="Malgun Gothic"/>
              </a:rPr>
              <a:t>인증 성공 시 unlock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localVerified=true · ROLE_LOCAL_VERIFIED · browsing 동네 쿠키 설정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판매글 작성, 거래 요청, 동네생활 글/댓글 작성 가능</a:t>
            </a:r>
          </a:p>
        </p:txBody>
      </p:sp>
      <p:sp>
        <p:nvSpPr>
          <p:cNvPr id="23" name="Takeaway"/>
          <p:cNvSpPr/>
          <p:nvPr/>
        </p:nvSpPr>
        <p:spPr>
          <a:xfrm>
            <a:off x="6126480" y="4315968"/>
            <a:ext cx="539496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130000" tIns="100000" rIns="120000" bIns="90000" wrap="square">
            <a:spAutoFit/>
          </a:bodyPr>
          <a:lstStyle/>
          <a:p>
            <a:pPr algn="l"/>
            <a:r>
              <a:rPr lang="ko-KR" sz="1200" dirty="0">
                <a:b/>
                <a:solidFill>
                  <a:srgbClr val="9A3412"/>
                </a:solidFill>
                <a:latin typeface="Malgun Gothic"/>
                <a:ea typeface="Malgun Gothic"/>
              </a:rPr>
              <a:t>핵심 설계 포인트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Leaflet은 시각화, 최종 판정은 LocationService에서 수행</a:t>
            </a:r>
          </a:p>
          <a:p>
            <a:pPr algn="l"/>
            <a:r>
              <a:rPr lang="ko-KR" sz="900" dirty="0">
                <a:solidFill>
                  <a:srgbClr val="374151"/>
                </a:solidFill>
                <a:latin typeface="Malgun Gothic"/>
                <a:ea typeface="Malgun Gothic"/>
              </a:rPr>
              <a:t>PostGIS boundary 우선, 경계 없음/미사용 시 verifyRadiusMeters 반경 비교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800" dirty="0">
                <a:solidFill>
                  <a:srgbClr val="9CA3AF"/>
                </a:solidFill>
                <a:latin typeface="Malgun Gothic"/>
                <a:ea typeface="Malgun Gothic"/>
              </a:rPr>
              <a:t>NeighborTrade 완료 발표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41280" y="641908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900" dirty="0">
                <a:b/>
                <a:solidFill>
                  <a:srgbClr val="9CA3AF"/>
                </a:solidFill>
                <a:latin typeface="Malgun Gothic"/>
                <a:ea typeface="Malgun Gothic"/>
              </a:rPr>
              <a:t>NBT-P5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NeighborTrade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NeighborTrade 완료 발표</dc:title>
  <dc:subject>NeighborTrade 프로젝트 완료 발표</dc:subject>
  <dc:creator>NeighborTrade</dc:creator>
  <cp:lastModifiedBy>NeighborTrade</cp:lastModifiedBy>
  <cp:revision>1</cp:revision>
  <dcterms:created xsi:type="dcterms:W3CDTF">2026-06-17T16:29:39Z</dcterms:created>
  <dcterms:modified xsi:type="dcterms:W3CDTF">2026-06-17T16:29:39Z</dcterms:modified>
</cp:coreProperties>
</file>